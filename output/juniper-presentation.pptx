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70ca19d23c04a5f" /><Relationship Type="http://schemas.openxmlformats.org/officeDocument/2006/relationships/extended-properties" Target="/docProps/app.xml" Id="Rcba1467eef1b4319" /><Relationship Type="http://schemas.openxmlformats.org/officeDocument/2006/relationships/officeDocument" Target="/ppt/presentation.xml" Id="R31ed76b69fcf4921" /></Relationships>
</file>

<file path=ppt/presentation.xml><?xml version="1.0" encoding="utf-8"?>
<p:presentation xmlns:p="http://schemas.openxmlformats.org/presentationml/2006/main">
  <p:sldMasterIdLst>
    <p:sldMasterId xmlns:r="http://schemas.openxmlformats.org/officeDocument/2006/relationships" id="2147483648" r:id="R47dc247f5867431d"/>
  </p:sldMasterIdLst>
  <p:notesMasterIdLst>
    <p:notesMasterId xmlns:r="http://schemas.openxmlformats.org/officeDocument/2006/relationships" r:id="R7889c9fea0634088"/>
  </p:notesMasterIdLst>
  <p:sldIdLst>
    <p:sldId xmlns:r="http://schemas.openxmlformats.org/officeDocument/2006/relationships" id="256" r:id="Ra2023bdff75b4302"/>
    <p:sldId xmlns:r="http://schemas.openxmlformats.org/officeDocument/2006/relationships" id="257" r:id="R6ecc416964ce44d2"/>
    <p:sldId xmlns:r="http://schemas.openxmlformats.org/officeDocument/2006/relationships" id="258" r:id="Rc357cfe8f1d54bf7"/>
    <p:sldId xmlns:r="http://schemas.openxmlformats.org/officeDocument/2006/relationships" id="259" r:id="R1128967d0fe7426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83f7091ca34dad" /><Relationship Type="http://schemas.openxmlformats.org/officeDocument/2006/relationships/slideMaster" Target="/ppt/slideMasters/slideMaster1.xml" Id="R47dc247f5867431d" /><Relationship Type="http://schemas.openxmlformats.org/officeDocument/2006/relationships/notesMaster" Target="/ppt/notesMasters/notesMaster1.xml" Id="R7889c9fea0634088" /><Relationship Type="http://schemas.openxmlformats.org/officeDocument/2006/relationships/presProps" Target="/ppt/presProps.xml" Id="Re40b80c5060c4bd9" /><Relationship Type="http://schemas.openxmlformats.org/officeDocument/2006/relationships/tableStyles" Target="/ppt/tableStyles.xml" Id="R0f1ae4c1933f4ca4" /><Relationship Type="http://schemas.openxmlformats.org/officeDocument/2006/relationships/slide" Target="/ppt/slides/slide1.xml" Id="Ra2023bdff75b4302" /><Relationship Type="http://schemas.openxmlformats.org/officeDocument/2006/relationships/slide" Target="/ppt/slides/slide2.xml" Id="R6ecc416964ce44d2" /><Relationship Type="http://schemas.openxmlformats.org/officeDocument/2006/relationships/slide" Target="/ppt/slides/slide3.xml" Id="Rc357cfe8f1d54bf7" /><Relationship Type="http://schemas.openxmlformats.org/officeDocument/2006/relationships/slide" Target="/ppt/slides/slide4.xml" Id="R1128967d0fe742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96303893ab4c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ad8b8d371441d9" /><Relationship Type="http://schemas.openxmlformats.org/officeDocument/2006/relationships/notesMaster" Target="/ppt/notesMasters/notesMaster1.xml" Id="Rf1439214a3f74610"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d1f62ffde949ca" /><Relationship Type="http://schemas.openxmlformats.org/officeDocument/2006/relationships/notesMaster" Target="/ppt/notesMasters/notesMaster1.xml" Id="Rf07d604a40904c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55f7eba8ac461b" /><Relationship Type="http://schemas.openxmlformats.org/officeDocument/2006/relationships/notesMaster" Target="/ppt/notesMasters/notesMaster1.xml" Id="R6fc0600f5470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c47e841f7994e54" /><Relationship Type="http://schemas.openxmlformats.org/officeDocument/2006/relationships/notesMaster" Target="/ppt/notesMasters/notesMaster1.xml" Id="Rf90789384d2e48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Lena interview. The 50% target is not measured evidence. Square remains authoritative. All demo clients and messages are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local browser demonstration and actual reservation-panel screenshot after the restart test. The screenshot shows fictional clients and sample hours. The labeled demo response window is 20 seconds. Standard timing is 15 minutes. The main demo in evidence/juniper-dashboard.png separately shows decline, timeout, then acceptance.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actual Temporal UI screenshot and actual process restart verification in evidence/README.md. Technical reference: https://docs.temporal.io/develop/typescript/workflows/message-passing and https://docs.temporal.io/develop/typescript/workflows/timers. A standalone Temporal infrastructure reconnect still requires restarting the application for operator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customer interview, tests/, docs/SECURITY.md and evidence/README.md. No claim of zero possible security vulnerabilities or measured revenue impact. Real SMS, Square writes and public deployment are out of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059b745523d42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7a29cd67db642cd" /><Relationship Type="http://schemas.openxmlformats.org/officeDocument/2006/relationships/slideLayout" Target="/ppt/slideLayouts/slideLayout1.xml" Id="R46259564d3ba4d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6259564d3ba4d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2e1c54d0914b80" /><Relationship Type="http://schemas.openxmlformats.org/officeDocument/2006/relationships/notesSlide" Target="/ppt/notesSlides/notesSlide1.xml" Id="Rf48d2dea6f834b6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47af56ea684123" /><Relationship Type="http://schemas.openxmlformats.org/officeDocument/2006/relationships/image" Target="/ppt/media/image.png" Id="R4c36abd23dbe4e68" /><Relationship Type="http://schemas.openxmlformats.org/officeDocument/2006/relationships/notesSlide" Target="/ppt/notesSlides/notesSlide2.xml" Id="Rc79ba6e82a0742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5c1290af2e4e9a" /><Relationship Type="http://schemas.openxmlformats.org/officeDocument/2006/relationships/image" Target="/ppt/media/image2.png" Id="Rab2a424c5d984212" /><Relationship Type="http://schemas.openxmlformats.org/officeDocument/2006/relationships/notesSlide" Target="/ppt/notesSlides/notesSlide3.xml" Id="R4e1d69be6e994d3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41a3f44b7fb4039" /><Relationship Type="http://schemas.openxmlformats.org/officeDocument/2006/relationships/notesSlide" Target="/ppt/notesSlides/notesSlide4.xml" Id="Rba9eafc238404feb" /></Relationships>
</file>

<file path=ppt/slides/slide1.xml><?xml version="1.0" encoding="utf-8"?>
<p:sld xmlns:p="http://schemas.openxmlformats.org/presentationml/2006/main">
  <p:cSld>
    <p:bg>
      <p:bgPr>
        <a:solidFill xmlns:a="http://schemas.openxmlformats.org/drawingml/2006/main">
          <a:srgbClr val="253B3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9398DF-ECD2-4091-A916-220A1CDF01E6}"/>
              </a:ext>
            </a:extLst>
          </p:cNvPr>
          <p:cNvSpPr>
            <a:spLocks xmlns:a="http://schemas.openxmlformats.org/drawingml/2006/main" noGrp="1"/>
          </p:cNvSpPr>
          <p:nvPr/>
        </p:nvSpPr>
        <p:spPr>
          <a:xfrm xmlns:a="http://schemas.openxmlformats.org/drawingml/2006/main">
            <a:off x="6858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6D4BF"/>
                </a:solidFill>
                <a:latin typeface="Aptos"/>
                <a:ea typeface="Aptos"/>
                <a:cs typeface="Aptos"/>
              </a:defRPr>
            </a:pPr>
            <a:r>
              <a:rPr sz="1725" b="1">
                <a:solidFill>
                  <a:srgbClr val="C6D4BF"/>
                </a:solidFill>
                <a:latin typeface="Aptos"/>
                <a:ea typeface="Aptos"/>
                <a:cs typeface="Aptos"/>
              </a:rPr>
              <a:t>JUNIPER SALON</a:t>
            </a:r>
          </a:p>
        </p:txBody>
      </p:sp>
      <p:sp>
        <p:nvSpPr>
          <p:cNvPr id="2" name="">
            <a:extLst xmlns:a="http://schemas.openxmlformats.org/drawingml/2006/main">
              <a:ext uri="{FF2B5EF4-FFF2-40B4-BE49-F238E27FC236}">
                <a16:creationId xmlns:a16="http://schemas.microsoft.com/office/drawing/2014/main" id="{7F140D06-5DE4-422B-AEC8-F9CE793B77BA}"/>
              </a:ext>
            </a:extLst>
          </p:cNvPr>
          <p:cNvSpPr>
            <a:spLocks xmlns:a="http://schemas.openxmlformats.org/drawingml/2006/main" noGrp="1"/>
          </p:cNvSpPr>
          <p:nvPr/>
        </p:nvSpPr>
        <p:spPr>
          <a:xfrm xmlns:a="http://schemas.openxmlformats.org/drawingml/2006/main">
            <a:off x="685800" y="1447800"/>
            <a:ext cx="10382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FFFEF9"/>
                </a:solidFill>
                <a:latin typeface="Aptos"/>
                <a:ea typeface="Aptos"/>
                <a:cs typeface="Aptos"/>
              </a:defRPr>
            </a:pPr>
            <a:r>
              <a:rPr sz="4650" b="1">
                <a:solidFill>
                  <a:srgbClr val="FFFEF9"/>
                </a:solidFill>
                <a:latin typeface="Aptos"/>
                <a:ea typeface="Aptos"/>
                <a:cs typeface="Aptos"/>
              </a:rPr>
              <a:t>A calmer way to fill</a:t>
            </a:r>
          </a:p>
          <a:p xmlns:a="http://schemas.openxmlformats.org/drawingml/2006/main">
            <a:pPr>
              <a:defRPr sz="4650" b="1">
                <a:solidFill>
                  <a:srgbClr val="FFFEF9"/>
                </a:solidFill>
                <a:latin typeface="Aptos"/>
                <a:ea typeface="Aptos"/>
                <a:cs typeface="Aptos"/>
              </a:defRPr>
            </a:pPr>
            <a:r>
              <a:rPr sz="4650" b="1">
                <a:solidFill>
                  <a:srgbClr val="FFFEF9"/>
                </a:solidFill>
                <a:latin typeface="Aptos"/>
                <a:ea typeface="Aptos"/>
                <a:cs typeface="Aptos"/>
              </a:rPr>
              <a:t>last-minute cancellations</a:t>
            </a:r>
          </a:p>
        </p:txBody>
      </p:sp>
      <p:sp>
        <p:nvSpPr>
          <p:cNvPr id="3" name="">
            <a:extLst xmlns:a="http://schemas.openxmlformats.org/drawingml/2006/main">
              <a:ext uri="{FF2B5EF4-FFF2-40B4-BE49-F238E27FC236}">
                <a16:creationId xmlns:a16="http://schemas.microsoft.com/office/drawing/2014/main" id="{30E3A510-8317-4C32-AD0A-548460BD70F6}"/>
              </a:ext>
            </a:extLst>
          </p:cNvPr>
          <p:cNvSpPr>
            <a:spLocks xmlns:a="http://schemas.openxmlformats.org/drawingml/2006/main" noGrp="1"/>
          </p:cNvSpPr>
          <p:nvPr/>
        </p:nvSpPr>
        <p:spPr>
          <a:xfrm xmlns:a="http://schemas.openxmlformats.org/drawingml/2006/main">
            <a:off x="723900" y="3552825"/>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DCE4D8"/>
                </a:solidFill>
                <a:latin typeface="Aptos"/>
                <a:ea typeface="Aptos"/>
                <a:cs typeface="Aptos"/>
              </a:defRPr>
            </a:pPr>
            <a:r>
              <a:rPr sz="2100" b="0">
                <a:solidFill>
                  <a:srgbClr val="DCE4D8"/>
                </a:solidFill>
                <a:latin typeface="Aptos"/>
                <a:ea typeface="Aptos"/>
                <a:cs typeface="Aptos"/>
              </a:rPr>
              <a:t>A working waitlist prototype powered by Temporal</a:t>
            </a:r>
          </a:p>
        </p:txBody>
      </p:sp>
      <p:sp>
        <p:nvSpPr>
          <p:cNvPr id="4" name="">
            <a:extLst xmlns:a="http://schemas.openxmlformats.org/drawingml/2006/main">
              <a:ext uri="{FF2B5EF4-FFF2-40B4-BE49-F238E27FC236}">
                <a16:creationId xmlns:a16="http://schemas.microsoft.com/office/drawing/2014/main" id="{A6BE0D1A-C923-45B0-80D4-D80302E8C334}"/>
              </a:ext>
            </a:extLst>
          </p:cNvPr>
          <p:cNvSpPr>
            <a:spLocks xmlns:a="http://schemas.openxmlformats.org/drawingml/2006/main" noGrp="1"/>
          </p:cNvSpPr>
          <p:nvPr/>
        </p:nvSpPr>
        <p:spPr>
          <a:xfrm xmlns:a="http://schemas.openxmlformats.org/drawingml/2006/main">
            <a:off x="723900" y="43815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EF9"/>
                </a:solidFill>
                <a:latin typeface="Aptos"/>
                <a:ea typeface="Aptos"/>
                <a:cs typeface="Aptos"/>
              </a:defRPr>
            </a:pPr>
            <a:r>
              <a:rPr sz="2025" b="0">
                <a:solidFill>
                  <a:srgbClr val="FFFEF9"/>
                </a:solidFill>
                <a:latin typeface="Aptos"/>
                <a:ea typeface="Aptos"/>
                <a:cs typeface="Aptos"/>
              </a:rPr>
              <a:t>Business goal: refill at least half of cancellations.</a:t>
            </a:r>
          </a:p>
          <a:p xmlns:a="http://schemas.openxmlformats.org/drawingml/2006/main">
            <a:pPr>
              <a:defRPr sz="2025" b="0">
                <a:solidFill>
                  <a:srgbClr val="FFFEF9"/>
                </a:solidFill>
                <a:latin typeface="Aptos"/>
                <a:ea typeface="Aptos"/>
                <a:cs typeface="Aptos"/>
              </a:defRPr>
            </a:pPr>
            <a:r>
              <a:rPr sz="2025" b="0">
                <a:solidFill>
                  <a:srgbClr val="FFFEF9"/>
                </a:solidFill>
                <a:latin typeface="Aptos"/>
                <a:ea typeface="Aptos"/>
                <a:cs typeface="Aptos"/>
              </a:rPr>
              <a:t>The prototype demonstrates the process. A live pilot must measure the result.</a:t>
            </a:r>
          </a:p>
        </p:txBody>
      </p:sp>
      <p:sp>
        <p:nvSpPr>
          <p:cNvPr id="5" name="">
            <a:extLst xmlns:a="http://schemas.openxmlformats.org/drawingml/2006/main">
              <a:ext uri="{FF2B5EF4-FFF2-40B4-BE49-F238E27FC236}">
                <a16:creationId xmlns:a16="http://schemas.microsoft.com/office/drawing/2014/main" id="{F20C1609-61E9-4541-B5B5-A9412A55373B}"/>
              </a:ext>
            </a:extLst>
          </p:cNvPr>
          <p:cNvSpPr>
            <a:spLocks xmlns:a="http://schemas.openxmlformats.org/drawingml/2006/main" noGrp="1"/>
          </p:cNvSpPr>
          <p:nvPr/>
        </p:nvSpPr>
        <p:spPr>
          <a:xfrm xmlns:a="http://schemas.openxmlformats.org/drawingml/2006/main">
            <a:off x="723900" y="58007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EFCDA5"/>
                </a:solidFill>
                <a:latin typeface="Aptos"/>
                <a:ea typeface="Aptos"/>
                <a:cs typeface="Aptos"/>
              </a:defRPr>
            </a:pPr>
            <a:r>
              <a:rPr sz="1800" b="1">
                <a:solidFill>
                  <a:srgbClr val="EFCDA5"/>
                </a:solidFill>
                <a:latin typeface="Aptos"/>
                <a:ea typeface="Aptos"/>
                <a:cs typeface="Aptos"/>
              </a:rPr>
              <a:t>Top risk: staff must enter each reservation in Square to avoid calendar conflicts.</a:t>
            </a:r>
          </a:p>
        </p:txBody>
      </p:sp>
    </p:spTree>
    <p:extLst>
      <p:ext uri="{BB962C8B-B14F-4D97-AF65-F5344CB8AC3E}">
        <p14:creationId xmlns:p14="http://schemas.microsoft.com/office/powerpoint/2010/main" val="655187233"/>
      </p:ext>
    </p:extLst>
  </p:cSld>
</p:sld>
</file>

<file path=ppt/slides/slide2.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96B515-F7A5-452E-91BE-3709292B14CC}"/>
              </a:ext>
            </a:extLst>
          </p:cNvPr>
          <p:cNvSpPr>
            <a:spLocks xmlns:a="http://schemas.openxmlformats.org/drawingml/2006/main" noGrp="1"/>
          </p:cNvSpPr>
          <p:nvPr/>
        </p:nvSpPr>
        <p:spPr>
          <a:xfrm xmlns:a="http://schemas.openxmlformats.org/drawingml/2006/main">
            <a:off x="609600" y="4762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3"/>
                </a:solidFill>
                <a:latin typeface="Aptos"/>
                <a:ea typeface="Aptos"/>
                <a:cs typeface="Aptos"/>
              </a:defRPr>
            </a:pPr>
            <a:r>
              <a:rPr sz="3300" b="1">
                <a:solidFill>
                  <a:srgbClr val="253B33"/>
                </a:solidFill>
                <a:latin typeface="Aptos"/>
                <a:ea typeface="Aptos"/>
                <a:cs typeface="Aptos"/>
              </a:rPr>
              <a:t>One offer at a time</a:t>
            </a:r>
          </a:p>
        </p:txBody>
      </p:sp>
      <p:sp>
        <p:nvSpPr>
          <p:cNvPr id="2" name="">
            <a:extLst xmlns:a="http://schemas.openxmlformats.org/drawingml/2006/main">
              <a:ext uri="{FF2B5EF4-FFF2-40B4-BE49-F238E27FC236}">
                <a16:creationId xmlns:a16="http://schemas.microsoft.com/office/drawing/2014/main" id="{CBBF2984-68A4-4AA0-8487-D40337201DB0}"/>
              </a:ext>
            </a:extLst>
          </p:cNvPr>
          <p:cNvSpPr>
            <a:spLocks xmlns:a="http://schemas.openxmlformats.org/drawingml/2006/main" noGrp="1"/>
          </p:cNvSpPr>
          <p:nvPr/>
        </p:nvSpPr>
        <p:spPr>
          <a:xfrm xmlns:a="http://schemas.openxmlformats.org/drawingml/2006/main">
            <a:off x="11144250" y="62865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068"/>
                </a:solidFill>
                <a:latin typeface="Aptos"/>
                <a:ea typeface="Aptos"/>
                <a:cs typeface="Aptos"/>
              </a:defRPr>
            </a:pPr>
            <a:r>
              <a:rPr sz="1350" b="0">
                <a:solidFill>
                  <a:srgbClr val="647068"/>
                </a:solidFill>
                <a:latin typeface="Aptos"/>
                <a:ea typeface="Aptos"/>
                <a:cs typeface="Aptos"/>
              </a:rPr>
              <a:t>02</a:t>
            </a:r>
          </a:p>
        </p:txBody>
      </p:sp>
      <p:sp>
        <p:nvSpPr>
          <p:cNvPr id="3" name="">
            <a:extLst xmlns:a="http://schemas.openxmlformats.org/drawingml/2006/main">
              <a:ext uri="{FF2B5EF4-FFF2-40B4-BE49-F238E27FC236}">
                <a16:creationId xmlns:a16="http://schemas.microsoft.com/office/drawing/2014/main" id="{10A70748-5D15-48E9-876A-8F13C11A8DE1}"/>
              </a:ext>
            </a:extLst>
          </p:cNvPr>
          <p:cNvSpPr>
            <a:spLocks xmlns:a="http://schemas.openxmlformats.org/drawingml/2006/main" noGrp="1"/>
          </p:cNvSpPr>
          <p:nvPr/>
        </p:nvSpPr>
        <p:spPr>
          <a:xfrm xmlns:a="http://schemas.openxmlformats.org/drawingml/2006/main">
            <a:off x="628650" y="168592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05F49"/>
                </a:solidFill>
                <a:latin typeface="Aptos"/>
                <a:ea typeface="Aptos"/>
                <a:cs typeface="Aptos"/>
              </a:defRPr>
            </a:pPr>
            <a:r>
              <a:rPr sz="2100" b="1">
                <a:solidFill>
                  <a:srgbClr val="305F49"/>
                </a:solidFill>
                <a:latin typeface="Aptos"/>
                <a:ea typeface="Aptos"/>
                <a:cs typeface="Aptos"/>
              </a:rPr>
              <a:t>1  Match the opening</a:t>
            </a:r>
          </a:p>
        </p:txBody>
      </p:sp>
      <p:sp>
        <p:nvSpPr>
          <p:cNvPr id="4" name="">
            <a:extLst xmlns:a="http://schemas.openxmlformats.org/drawingml/2006/main">
              <a:ext uri="{FF2B5EF4-FFF2-40B4-BE49-F238E27FC236}">
                <a16:creationId xmlns:a16="http://schemas.microsoft.com/office/drawing/2014/main" id="{7E9076AE-DBDE-4C22-8C3D-7CC805D7C20D}"/>
              </a:ext>
            </a:extLst>
          </p:cNvPr>
          <p:cNvSpPr>
            <a:spLocks xmlns:a="http://schemas.openxmlformats.org/drawingml/2006/main" noGrp="1"/>
          </p:cNvSpPr>
          <p:nvPr/>
        </p:nvSpPr>
        <p:spPr>
          <a:xfrm xmlns:a="http://schemas.openxmlformats.org/drawingml/2006/main">
            <a:off x="628650" y="2143125"/>
            <a:ext cx="3857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Service, duration, availability, stylist and consent determine eligibility.</a:t>
            </a:r>
          </a:p>
        </p:txBody>
      </p:sp>
      <p:sp>
        <p:nvSpPr>
          <p:cNvPr id="5" name="">
            <a:extLst xmlns:a="http://schemas.openxmlformats.org/drawingml/2006/main">
              <a:ext uri="{FF2B5EF4-FFF2-40B4-BE49-F238E27FC236}">
                <a16:creationId xmlns:a16="http://schemas.microsoft.com/office/drawing/2014/main" id="{C2F94D57-B38A-4DF3-86CA-6F220C253494}"/>
              </a:ext>
            </a:extLst>
          </p:cNvPr>
          <p:cNvSpPr>
            <a:spLocks xmlns:a="http://schemas.openxmlformats.org/drawingml/2006/main" noGrp="1"/>
          </p:cNvSpPr>
          <p:nvPr/>
        </p:nvSpPr>
        <p:spPr>
          <a:xfrm xmlns:a="http://schemas.openxmlformats.org/drawingml/2006/main">
            <a:off x="628650" y="3352800"/>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05F49"/>
                </a:solidFill>
                <a:latin typeface="Aptos"/>
                <a:ea typeface="Aptos"/>
                <a:cs typeface="Aptos"/>
              </a:defRPr>
            </a:pPr>
            <a:r>
              <a:rPr sz="2100" b="1">
                <a:solidFill>
                  <a:srgbClr val="305F49"/>
                </a:solidFill>
                <a:latin typeface="Aptos"/>
                <a:ea typeface="Aptos"/>
                <a:cs typeface="Aptos"/>
              </a:rPr>
              <a:t>2  Wait for a reply</a:t>
            </a:r>
          </a:p>
        </p:txBody>
      </p:sp>
      <p:sp>
        <p:nvSpPr>
          <p:cNvPr id="6" name="">
            <a:extLst xmlns:a="http://schemas.openxmlformats.org/drawingml/2006/main">
              <a:ext uri="{FF2B5EF4-FFF2-40B4-BE49-F238E27FC236}">
                <a16:creationId xmlns:a16="http://schemas.microsoft.com/office/drawing/2014/main" id="{6B347C61-6CD3-4A3E-835D-3C23E177AAA4}"/>
              </a:ext>
            </a:extLst>
          </p:cNvPr>
          <p:cNvSpPr>
            <a:spLocks xmlns:a="http://schemas.openxmlformats.org/drawingml/2006/main" noGrp="1"/>
          </p:cNvSpPr>
          <p:nvPr/>
        </p:nvSpPr>
        <p:spPr>
          <a:xfrm xmlns:a="http://schemas.openxmlformats.org/drawingml/2006/main">
            <a:off x="628650" y="3810000"/>
            <a:ext cx="3905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Contact the earliest eligible client. Declines and 15-minute timeouts advance the queue.</a:t>
            </a:r>
          </a:p>
        </p:txBody>
      </p:sp>
      <p:sp>
        <p:nvSpPr>
          <p:cNvPr id="7" name="">
            <a:extLst xmlns:a="http://schemas.openxmlformats.org/drawingml/2006/main">
              <a:ext uri="{FF2B5EF4-FFF2-40B4-BE49-F238E27FC236}">
                <a16:creationId xmlns:a16="http://schemas.microsoft.com/office/drawing/2014/main" id="{066F4B0F-9562-499C-8A09-4CCA5966FC8A}"/>
              </a:ext>
            </a:extLst>
          </p:cNvPr>
          <p:cNvSpPr>
            <a:spLocks xmlns:a="http://schemas.openxmlformats.org/drawingml/2006/main" noGrp="1"/>
          </p:cNvSpPr>
          <p:nvPr/>
        </p:nvSpPr>
        <p:spPr>
          <a:xfrm xmlns:a="http://schemas.openxmlformats.org/drawingml/2006/main">
            <a:off x="628650" y="5095875"/>
            <a:ext cx="409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05F49"/>
                </a:solidFill>
                <a:latin typeface="Aptos"/>
                <a:ea typeface="Aptos"/>
                <a:cs typeface="Aptos"/>
              </a:defRPr>
            </a:pPr>
            <a:r>
              <a:rPr sz="2100" b="1">
                <a:solidFill>
                  <a:srgbClr val="305F49"/>
                </a:solidFill>
                <a:latin typeface="Aptos"/>
                <a:ea typeface="Aptos"/>
                <a:cs typeface="Aptos"/>
              </a:rPr>
              <a:t>3  Reserve and hand off</a:t>
            </a:r>
          </a:p>
        </p:txBody>
      </p:sp>
      <p:sp>
        <p:nvSpPr>
          <p:cNvPr id="8" name="">
            <a:extLst xmlns:a="http://schemas.openxmlformats.org/drawingml/2006/main">
              <a:ext uri="{FF2B5EF4-FFF2-40B4-BE49-F238E27FC236}">
                <a16:creationId xmlns:a16="http://schemas.microsoft.com/office/drawing/2014/main" id="{9D0004D8-BA03-416E-80EB-75A837818CFC}"/>
              </a:ext>
            </a:extLst>
          </p:cNvPr>
          <p:cNvSpPr>
            <a:spLocks xmlns:a="http://schemas.openxmlformats.org/drawingml/2006/main" noGrp="1"/>
          </p:cNvSpPr>
          <p:nvPr/>
        </p:nvSpPr>
        <p:spPr>
          <a:xfrm xmlns:a="http://schemas.openxmlformats.org/drawingml/2006/main">
            <a:off x="628650" y="5524500"/>
            <a:ext cx="3905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A valid acceptance stops outreach. Staff complete the Square entry.</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c36abd23dbe4e68"/>
          <a:stretch xmlns:a="http://schemas.openxmlformats.org/drawingml/2006/main"/>
        </p:blipFill>
        <p:spPr>
          <a:xfrm xmlns:a="http://schemas.openxmlformats.org/drawingml/2006/main">
            <a:off x="4857750" y="2312311"/>
            <a:ext cx="6715125" cy="2519129"/>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0CD8E4C-7EA3-4FA3-B12F-B811110DC72E}"/>
              </a:ext>
            </a:extLst>
          </p:cNvPr>
          <p:cNvSpPr>
            <a:spLocks xmlns:a="http://schemas.openxmlformats.org/drawingml/2006/main" noGrp="1"/>
          </p:cNvSpPr>
          <p:nvPr/>
        </p:nvSpPr>
        <p:spPr>
          <a:xfrm xmlns:a="http://schemas.openxmlformats.org/drawingml/2006/main">
            <a:off x="5000625" y="5191125"/>
            <a:ext cx="628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305F49"/>
                </a:solidFill>
                <a:latin typeface="Aptos"/>
                <a:ea typeface="Aptos"/>
                <a:cs typeface="Aptos"/>
              </a:defRPr>
            </a:pPr>
            <a:r>
              <a:rPr sz="1725" b="1">
                <a:solidFill>
                  <a:srgbClr val="305F49"/>
                </a:solidFill>
                <a:latin typeface="Aptos"/>
                <a:ea typeface="Aptos"/>
                <a:cs typeface="Aptos"/>
              </a:rPr>
              <a:t>The reservation includes a clear Square reminder.</a:t>
            </a:r>
          </a:p>
        </p:txBody>
      </p:sp>
      <p:sp>
        <p:nvSpPr>
          <p:cNvPr id="11" name="">
            <a:extLst xmlns:a="http://schemas.openxmlformats.org/drawingml/2006/main">
              <a:ext uri="{FF2B5EF4-FFF2-40B4-BE49-F238E27FC236}">
                <a16:creationId xmlns:a16="http://schemas.microsoft.com/office/drawing/2014/main" id="{AB0D397F-1A5B-4274-884C-84151B359BDB}"/>
              </a:ext>
            </a:extLst>
          </p:cNvPr>
          <p:cNvSpPr>
            <a:spLocks xmlns:a="http://schemas.openxmlformats.org/drawingml/2006/main" noGrp="1"/>
          </p:cNvSpPr>
          <p:nvPr/>
        </p:nvSpPr>
        <p:spPr>
          <a:xfrm xmlns:a="http://schemas.openxmlformats.org/drawingml/2006/main">
            <a:off x="5000625" y="5762625"/>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47068"/>
                </a:solidFill>
                <a:latin typeface="Aptos"/>
                <a:ea typeface="Aptos"/>
                <a:cs typeface="Aptos"/>
              </a:defRPr>
            </a:pPr>
            <a:r>
              <a:rPr sz="1575" b="0">
                <a:solidFill>
                  <a:srgbClr val="647068"/>
                </a:solidFill>
                <a:latin typeface="Aptos"/>
                <a:ea typeface="Aptos"/>
                <a:cs typeface="Aptos"/>
              </a:rPr>
              <a:t>Demo path: decline, timeout, then acceptance.</a:t>
            </a:r>
          </a:p>
          <a:p xmlns:a="http://schemas.openxmlformats.org/drawingml/2006/main">
            <a:pPr>
              <a:defRPr sz="1575" b="0">
                <a:solidFill>
                  <a:srgbClr val="647068"/>
                </a:solidFill>
                <a:latin typeface="Aptos"/>
                <a:ea typeface="Aptos"/>
                <a:cs typeface="Aptos"/>
              </a:defRPr>
            </a:pPr>
            <a:r>
              <a:rPr sz="1575" b="0">
                <a:solidFill>
                  <a:srgbClr val="647068"/>
                </a:solidFill>
                <a:latin typeface="Aptos"/>
                <a:ea typeface="Aptos"/>
                <a:cs typeface="Aptos"/>
              </a:rPr>
              <a:t>Shown: the reservation following the restart test.</a:t>
            </a:r>
          </a:p>
        </p:txBody>
      </p:sp>
    </p:spTree>
    <p:extLst>
      <p:ext uri="{BB962C8B-B14F-4D97-AF65-F5344CB8AC3E}">
        <p14:creationId xmlns:p14="http://schemas.microsoft.com/office/powerpoint/2010/main" val="411147002"/>
      </p:ext>
    </p:extLst>
  </p:cSld>
</p:sld>
</file>

<file path=ppt/slides/slide3.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5FF8EFA-8696-42BD-BED5-CEE70C2C18F0}"/>
              </a:ext>
            </a:extLst>
          </p:cNvPr>
          <p:cNvSpPr>
            <a:spLocks xmlns:a="http://schemas.openxmlformats.org/drawingml/2006/main" noGrp="1"/>
          </p:cNvSpPr>
          <p:nvPr/>
        </p:nvSpPr>
        <p:spPr>
          <a:xfrm xmlns:a="http://schemas.openxmlformats.org/drawingml/2006/main">
            <a:off x="609600" y="4762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3"/>
                </a:solidFill>
                <a:latin typeface="Aptos"/>
                <a:ea typeface="Aptos"/>
                <a:cs typeface="Aptos"/>
              </a:defRPr>
            </a:pPr>
            <a:r>
              <a:rPr sz="3300" b="1">
                <a:solidFill>
                  <a:srgbClr val="253B33"/>
                </a:solidFill>
                <a:latin typeface="Aptos"/>
                <a:ea typeface="Aptos"/>
                <a:cs typeface="Aptos"/>
              </a:rPr>
              <a:t>Temporal keeps the process and its deadlines</a:t>
            </a:r>
          </a:p>
        </p:txBody>
      </p:sp>
      <p:sp>
        <p:nvSpPr>
          <p:cNvPr id="2" name="">
            <a:extLst xmlns:a="http://schemas.openxmlformats.org/drawingml/2006/main">
              <a:ext uri="{FF2B5EF4-FFF2-40B4-BE49-F238E27FC236}">
                <a16:creationId xmlns:a16="http://schemas.microsoft.com/office/drawing/2014/main" id="{85F12422-118A-4C3E-9DCD-C18C5475C38A}"/>
              </a:ext>
            </a:extLst>
          </p:cNvPr>
          <p:cNvSpPr>
            <a:spLocks xmlns:a="http://schemas.openxmlformats.org/drawingml/2006/main" noGrp="1"/>
          </p:cNvSpPr>
          <p:nvPr/>
        </p:nvSpPr>
        <p:spPr>
          <a:xfrm xmlns:a="http://schemas.openxmlformats.org/drawingml/2006/main">
            <a:off x="11144250" y="62865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068"/>
                </a:solidFill>
                <a:latin typeface="Aptos"/>
                <a:ea typeface="Aptos"/>
                <a:cs typeface="Aptos"/>
              </a:defRPr>
            </a:pPr>
            <a:r>
              <a:rPr sz="1350" b="0">
                <a:solidFill>
                  <a:srgbClr val="647068"/>
                </a:solidFill>
                <a:latin typeface="Aptos"/>
                <a:ea typeface="Aptos"/>
                <a:cs typeface="Aptos"/>
              </a:rPr>
              <a:t>03</a:t>
            </a:r>
          </a:p>
        </p:txBody>
      </p:sp>
      <p:sp>
        <p:nvSpPr>
          <p:cNvPr id="3" name="">
            <a:extLst xmlns:a="http://schemas.openxmlformats.org/drawingml/2006/main">
              <a:ext uri="{FF2B5EF4-FFF2-40B4-BE49-F238E27FC236}">
                <a16:creationId xmlns:a16="http://schemas.microsoft.com/office/drawing/2014/main" id="{1838AF96-1C50-424F-83C5-B5C237BE280C}"/>
              </a:ext>
            </a:extLst>
          </p:cNvPr>
          <p:cNvSpPr>
            <a:spLocks xmlns:a="http://schemas.openxmlformats.org/drawingml/2006/main" noGrp="1"/>
          </p:cNvSpPr>
          <p:nvPr/>
        </p:nvSpPr>
        <p:spPr>
          <a:xfrm xmlns:a="http://schemas.openxmlformats.org/drawingml/2006/main">
            <a:off x="628650" y="169545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05F49"/>
                </a:solidFill>
                <a:latin typeface="Aptos"/>
                <a:ea typeface="Aptos"/>
                <a:cs typeface="Aptos"/>
              </a:defRPr>
            </a:pPr>
            <a:r>
              <a:rPr sz="2175" b="1">
                <a:solidFill>
                  <a:srgbClr val="305F49"/>
                </a:solidFill>
                <a:latin typeface="Aptos"/>
                <a:ea typeface="Aptos"/>
                <a:cs typeface="Aptos"/>
              </a:rPr>
              <a:t>Durable waiting</a:t>
            </a:r>
          </a:p>
        </p:txBody>
      </p:sp>
      <p:sp>
        <p:nvSpPr>
          <p:cNvPr id="4" name="">
            <a:extLst xmlns:a="http://schemas.openxmlformats.org/drawingml/2006/main">
              <a:ext uri="{FF2B5EF4-FFF2-40B4-BE49-F238E27FC236}">
                <a16:creationId xmlns:a16="http://schemas.microsoft.com/office/drawing/2014/main" id="{E5AABA10-0962-49E0-96B8-209DB5E0B265}"/>
              </a:ext>
            </a:extLst>
          </p:cNvPr>
          <p:cNvSpPr>
            <a:spLocks xmlns:a="http://schemas.openxmlformats.org/drawingml/2006/main" noGrp="1"/>
          </p:cNvSpPr>
          <p:nvPr/>
        </p:nvSpPr>
        <p:spPr>
          <a:xfrm xmlns:a="http://schemas.openxmlformats.org/drawingml/2006/main">
            <a:off x="628650" y="21526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The workflow records offers and waits for replies or timers. Browser refreshes do not reset progress.</a:t>
            </a:r>
          </a:p>
        </p:txBody>
      </p:sp>
      <p:sp>
        <p:nvSpPr>
          <p:cNvPr id="5" name="">
            <a:extLst xmlns:a="http://schemas.openxmlformats.org/drawingml/2006/main">
              <a:ext uri="{FF2B5EF4-FFF2-40B4-BE49-F238E27FC236}">
                <a16:creationId xmlns:a16="http://schemas.microsoft.com/office/drawing/2014/main" id="{D65234E8-2CD3-41EA-B3F8-4EA063D03DB8}"/>
              </a:ext>
            </a:extLst>
          </p:cNvPr>
          <p:cNvSpPr>
            <a:spLocks xmlns:a="http://schemas.openxmlformats.org/drawingml/2006/main" noGrp="1"/>
          </p:cNvSpPr>
          <p:nvPr/>
        </p:nvSpPr>
        <p:spPr>
          <a:xfrm xmlns:a="http://schemas.openxmlformats.org/drawingml/2006/main">
            <a:off x="628650" y="36195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305F49"/>
                </a:solidFill>
                <a:latin typeface="Aptos"/>
                <a:ea typeface="Aptos"/>
                <a:cs typeface="Aptos"/>
              </a:defRPr>
            </a:pPr>
            <a:r>
              <a:rPr sz="2175" b="1">
                <a:solidFill>
                  <a:srgbClr val="305F49"/>
                </a:solidFill>
                <a:latin typeface="Aptos"/>
                <a:ea typeface="Aptos"/>
                <a:cs typeface="Aptos"/>
              </a:rPr>
              <a:t>Staff review after restart</a:t>
            </a:r>
          </a:p>
        </p:txBody>
      </p:sp>
      <p:sp>
        <p:nvSpPr>
          <p:cNvPr id="6" name="">
            <a:extLst xmlns:a="http://schemas.openxmlformats.org/drawingml/2006/main">
              <a:ext uri="{FF2B5EF4-FFF2-40B4-BE49-F238E27FC236}">
                <a16:creationId xmlns:a16="http://schemas.microsoft.com/office/drawing/2014/main" id="{F189A463-A6A0-4F7F-BC37-6D50E34F2690}"/>
              </a:ext>
            </a:extLst>
          </p:cNvPr>
          <p:cNvSpPr>
            <a:spLocks xmlns:a="http://schemas.openxmlformats.org/drawingml/2006/main" noGrp="1"/>
          </p:cNvSpPr>
          <p:nvPr/>
        </p:nvSpPr>
        <p:spPr>
          <a:xfrm xmlns:a="http://schemas.openxmlformats.org/drawingml/2006/main">
            <a:off x="628650" y="4114800"/>
            <a:ext cx="4000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Recovery pauses outreach. Replies are rejected until staff resume. Expired offers stay expired.</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b2a424c5d984212"/>
          <a:stretch xmlns:a="http://schemas.openxmlformats.org/drawingml/2006/main"/>
        </p:blipFill>
        <p:spPr>
          <a:xfrm xmlns:a="http://schemas.openxmlformats.org/drawingml/2006/main">
            <a:off x="5333134" y="1590675"/>
            <a:ext cx="5888182"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E6236919-6A76-4F1B-9DA4-2B3C72572B46}"/>
              </a:ext>
            </a:extLst>
          </p:cNvPr>
          <p:cNvSpPr>
            <a:spLocks xmlns:a="http://schemas.openxmlformats.org/drawingml/2006/main" noGrp="1"/>
          </p:cNvSpPr>
          <p:nvPr/>
        </p:nvSpPr>
        <p:spPr>
          <a:xfrm xmlns:a="http://schemas.openxmlformats.org/drawingml/2006/main">
            <a:off x="628650" y="5838825"/>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47068"/>
                </a:solidFill>
                <a:latin typeface="Aptos"/>
                <a:ea typeface="Aptos"/>
                <a:cs typeface="Aptos"/>
              </a:defRPr>
            </a:pPr>
            <a:r>
              <a:rPr sz="1725" b="0">
                <a:solidFill>
                  <a:srgbClr val="647068"/>
                </a:solidFill>
                <a:latin typeface="Aptos"/>
                <a:ea typeface="Aptos"/>
                <a:cs typeface="Aptos"/>
              </a:rPr>
              <a:t>Real process restart verified the pause and original deadline.</a:t>
            </a:r>
          </a:p>
          <a:p xmlns:a="http://schemas.openxmlformats.org/drawingml/2006/main">
            <a:pPr>
              <a:defRPr sz="1725" b="0">
                <a:solidFill>
                  <a:srgbClr val="647068"/>
                </a:solidFill>
                <a:latin typeface="Aptos"/>
                <a:ea typeface="Aptos"/>
                <a:cs typeface="Aptos"/>
              </a:defRPr>
            </a:pPr>
            <a:r>
              <a:rPr sz="1725" b="0">
                <a:solidFill>
                  <a:srgbClr val="647068"/>
                </a:solidFill>
                <a:latin typeface="Aptos"/>
                <a:ea typeface="Aptos"/>
                <a:cs typeface="Aptos"/>
              </a:rPr>
              <a:t>The salon workflow remains running after a reservation.</a:t>
            </a:r>
          </a:p>
        </p:txBody>
      </p:sp>
    </p:spTree>
    <p:extLst>
      <p:ext uri="{BB962C8B-B14F-4D97-AF65-F5344CB8AC3E}">
        <p14:creationId xmlns:p14="http://schemas.microsoft.com/office/powerpoint/2010/main" val="1546670790"/>
      </p:ext>
    </p:extLst>
  </p:cSld>
</p:sld>
</file>

<file path=ppt/slides/slide4.xml><?xml version="1.0" encoding="utf-8"?>
<p:sld xmlns:p="http://schemas.openxmlformats.org/presentationml/2006/main">
  <p:cSld>
    <p:bg>
      <p:bgPr>
        <a:solidFill xmlns:a="http://schemas.openxmlformats.org/drawingml/2006/main">
          <a:srgbClr val="F6F4E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DD389D5-20A4-4BB2-9552-7398C39A187A}"/>
              </a:ext>
            </a:extLst>
          </p:cNvPr>
          <p:cNvSpPr>
            <a:spLocks xmlns:a="http://schemas.openxmlformats.org/drawingml/2006/main" noGrp="1"/>
          </p:cNvSpPr>
          <p:nvPr/>
        </p:nvSpPr>
        <p:spPr>
          <a:xfrm xmlns:a="http://schemas.openxmlformats.org/drawingml/2006/main">
            <a:off x="609600" y="476250"/>
            <a:ext cx="1095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53B33"/>
                </a:solidFill>
                <a:latin typeface="Aptos"/>
                <a:ea typeface="Aptos"/>
                <a:cs typeface="Aptos"/>
              </a:defRPr>
            </a:pPr>
            <a:r>
              <a:rPr sz="3300" b="1">
                <a:solidFill>
                  <a:srgbClr val="253B33"/>
                </a:solidFill>
                <a:latin typeface="Aptos"/>
                <a:ea typeface="Aptos"/>
                <a:cs typeface="Aptos"/>
              </a:rPr>
              <a:t>What is ready, and what comes next</a:t>
            </a:r>
          </a:p>
        </p:txBody>
      </p:sp>
      <p:sp>
        <p:nvSpPr>
          <p:cNvPr id="2" name="">
            <a:extLst xmlns:a="http://schemas.openxmlformats.org/drawingml/2006/main">
              <a:ext uri="{FF2B5EF4-FFF2-40B4-BE49-F238E27FC236}">
                <a16:creationId xmlns:a16="http://schemas.microsoft.com/office/drawing/2014/main" id="{C0C4098B-DA82-4239-965F-BA73E1D7E099}"/>
              </a:ext>
            </a:extLst>
          </p:cNvPr>
          <p:cNvSpPr>
            <a:spLocks xmlns:a="http://schemas.openxmlformats.org/drawingml/2006/main" noGrp="1"/>
          </p:cNvSpPr>
          <p:nvPr/>
        </p:nvSpPr>
        <p:spPr>
          <a:xfrm xmlns:a="http://schemas.openxmlformats.org/drawingml/2006/main">
            <a:off x="11144250" y="62865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068"/>
                </a:solidFill>
                <a:latin typeface="Aptos"/>
                <a:ea typeface="Aptos"/>
                <a:cs typeface="Aptos"/>
              </a:defRPr>
            </a:pPr>
            <a:r>
              <a:rPr sz="1350" b="0">
                <a:solidFill>
                  <a:srgbClr val="647068"/>
                </a:solidFill>
                <a:latin typeface="Aptos"/>
                <a:ea typeface="Aptos"/>
                <a:cs typeface="Aptos"/>
              </a:rPr>
              <a:t>04</a:t>
            </a:r>
          </a:p>
        </p:txBody>
      </p:sp>
      <p:sp>
        <p:nvSpPr>
          <p:cNvPr id="3" name="">
            <a:extLst xmlns:a="http://schemas.openxmlformats.org/drawingml/2006/main">
              <a:ext uri="{FF2B5EF4-FFF2-40B4-BE49-F238E27FC236}">
                <a16:creationId xmlns:a16="http://schemas.microsoft.com/office/drawing/2014/main" id="{C17297A4-B710-4FA2-A73B-C6E0636FCE2F}"/>
              </a:ext>
            </a:extLst>
          </p:cNvPr>
          <p:cNvSpPr>
            <a:spLocks xmlns:a="http://schemas.openxmlformats.org/drawingml/2006/main" noGrp="1"/>
          </p:cNvSpPr>
          <p:nvPr/>
        </p:nvSpPr>
        <p:spPr>
          <a:xfrm xmlns:a="http://schemas.openxmlformats.org/drawingml/2006/main">
            <a:off x="628650" y="16954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05F49"/>
                </a:solidFill>
                <a:latin typeface="Aptos"/>
                <a:ea typeface="Aptos"/>
                <a:cs typeface="Aptos"/>
              </a:defRPr>
            </a:pPr>
            <a:r>
              <a:rPr sz="2250" b="1">
                <a:solidFill>
                  <a:srgbClr val="305F49"/>
                </a:solidFill>
                <a:latin typeface="Aptos"/>
                <a:ea typeface="Aptos"/>
                <a:cs typeface="Aptos"/>
              </a:rPr>
              <a:t>Demonstrated</a:t>
            </a:r>
          </a:p>
        </p:txBody>
      </p:sp>
      <p:sp>
        <p:nvSpPr>
          <p:cNvPr id="4" name="">
            <a:extLst xmlns:a="http://schemas.openxmlformats.org/drawingml/2006/main">
              <a:ext uri="{FF2B5EF4-FFF2-40B4-BE49-F238E27FC236}">
                <a16:creationId xmlns:a16="http://schemas.microsoft.com/office/drawing/2014/main" id="{E084A4A1-48EE-409C-BF80-BB294C73421A}"/>
              </a:ext>
            </a:extLst>
          </p:cNvPr>
          <p:cNvSpPr>
            <a:spLocks xmlns:a="http://schemas.openxmlformats.org/drawingml/2006/main" noGrp="1"/>
          </p:cNvSpPr>
          <p:nvPr/>
        </p:nvSpPr>
        <p:spPr>
          <a:xfrm xmlns:a="http://schemas.openxmlformats.org/drawingml/2006/main">
            <a:off x="628650" y="2286000"/>
            <a:ext cx="5334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Sequential offers, expiry and reservation</a:t>
            </a:r>
          </a:p>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Late and competing replies rejected</a:t>
            </a:r>
          </a:p>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Opt-outs, quiet hours and staff controls</a:t>
            </a:r>
          </a:p>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Message failure and restart review</a:t>
            </a:r>
          </a:p>
        </p:txBody>
      </p:sp>
      <p:sp>
        <p:nvSpPr>
          <p:cNvPr id="5" name="">
            <a:extLst xmlns:a="http://schemas.openxmlformats.org/drawingml/2006/main">
              <a:ext uri="{FF2B5EF4-FFF2-40B4-BE49-F238E27FC236}">
                <a16:creationId xmlns:a16="http://schemas.microsoft.com/office/drawing/2014/main" id="{CDCDE2D9-A0E7-4399-A4F6-842F7FE14CCD}"/>
              </a:ext>
            </a:extLst>
          </p:cNvPr>
          <p:cNvSpPr>
            <a:spLocks xmlns:a="http://schemas.openxmlformats.org/drawingml/2006/main" noGrp="1"/>
          </p:cNvSpPr>
          <p:nvPr/>
        </p:nvSpPr>
        <p:spPr>
          <a:xfrm xmlns:a="http://schemas.openxmlformats.org/drawingml/2006/main">
            <a:off x="628650" y="4667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05F49"/>
                </a:solidFill>
                <a:latin typeface="Aptos"/>
                <a:ea typeface="Aptos"/>
                <a:cs typeface="Aptos"/>
              </a:defRPr>
            </a:pPr>
            <a:r>
              <a:rPr sz="2250" b="1">
                <a:solidFill>
                  <a:srgbClr val="305F49"/>
                </a:solidFill>
                <a:latin typeface="Aptos"/>
                <a:ea typeface="Aptos"/>
                <a:cs typeface="Aptos"/>
              </a:rPr>
              <a:t>Local protection</a:t>
            </a:r>
          </a:p>
        </p:txBody>
      </p:sp>
      <p:sp>
        <p:nvSpPr>
          <p:cNvPr id="6" name="">
            <a:extLst xmlns:a="http://schemas.openxmlformats.org/drawingml/2006/main">
              <a:ext uri="{FF2B5EF4-FFF2-40B4-BE49-F238E27FC236}">
                <a16:creationId xmlns:a16="http://schemas.microsoft.com/office/drawing/2014/main" id="{CBAD57C5-BBB1-46D6-A002-ADCF374C4E12}"/>
              </a:ext>
            </a:extLst>
          </p:cNvPr>
          <p:cNvSpPr>
            <a:spLocks xmlns:a="http://schemas.openxmlformats.org/drawingml/2006/main" noGrp="1"/>
          </p:cNvSpPr>
          <p:nvPr/>
        </p:nvSpPr>
        <p:spPr>
          <a:xfrm xmlns:a="http://schemas.openxmlformats.org/drawingml/2006/main">
            <a:off x="628650" y="5219700"/>
            <a:ext cx="5334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Staff sign-in, loopback services, validated</a:t>
            </a:r>
          </a:p>
          <a:p xmlns:a="http://schemas.openxmlformats.org/drawingml/2006/main">
            <a:pPr>
              <a:defRPr sz="2025" b="0">
                <a:solidFill>
                  <a:srgbClr val="253B33"/>
                </a:solidFill>
                <a:latin typeface="Aptos"/>
                <a:ea typeface="Aptos"/>
                <a:cs typeface="Aptos"/>
              </a:defRPr>
            </a:pPr>
            <a:r>
              <a:rPr sz="2025" b="0">
                <a:solidFill>
                  <a:srgbClr val="253B33"/>
                </a:solidFill>
                <a:latin typeface="Aptos"/>
                <a:ea typeface="Aptos"/>
                <a:cs typeface="Aptos"/>
              </a:rPr>
              <a:t>requests and fictional client data.</a:t>
            </a:r>
          </a:p>
        </p:txBody>
      </p:sp>
      <p:sp>
        <p:nvSpPr>
          <p:cNvPr id="7" name="">
            <a:extLst xmlns:a="http://schemas.openxmlformats.org/drawingml/2006/main">
              <a:ext uri="{FF2B5EF4-FFF2-40B4-BE49-F238E27FC236}">
                <a16:creationId xmlns:a16="http://schemas.microsoft.com/office/drawing/2014/main" id="{979918B4-0E1B-45BD-AE27-34842C63B705}"/>
              </a:ext>
            </a:extLst>
          </p:cNvPr>
          <p:cNvSpPr>
            <a:spLocks xmlns:a="http://schemas.openxmlformats.org/drawingml/2006/main" noGrp="1"/>
          </p:cNvSpPr>
          <p:nvPr/>
        </p:nvSpPr>
        <p:spPr>
          <a:xfrm xmlns:a="http://schemas.openxmlformats.org/drawingml/2006/main">
            <a:off x="6762750" y="16954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05F49"/>
                </a:solidFill>
                <a:latin typeface="Aptos"/>
                <a:ea typeface="Aptos"/>
                <a:cs typeface="Aptos"/>
              </a:defRPr>
            </a:pPr>
            <a:r>
              <a:rPr sz="2250" b="1">
                <a:solidFill>
                  <a:srgbClr val="305F49"/>
                </a:solidFill>
                <a:latin typeface="Aptos"/>
                <a:ea typeface="Aptos"/>
                <a:cs typeface="Aptos"/>
              </a:rPr>
              <a:t>Before a real pilot</a:t>
            </a:r>
          </a:p>
        </p:txBody>
      </p:sp>
      <p:sp>
        <p:nvSpPr>
          <p:cNvPr id="8" name="">
            <a:extLst xmlns:a="http://schemas.openxmlformats.org/drawingml/2006/main">
              <a:ext uri="{FF2B5EF4-FFF2-40B4-BE49-F238E27FC236}">
                <a16:creationId xmlns:a16="http://schemas.microsoft.com/office/drawing/2014/main" id="{D2C5A6B6-BE29-4C41-8786-F58860F08750}"/>
              </a:ext>
            </a:extLst>
          </p:cNvPr>
          <p:cNvSpPr>
            <a:spLocks xmlns:a="http://schemas.openxmlformats.org/drawingml/2006/main" noGrp="1"/>
          </p:cNvSpPr>
          <p:nvPr/>
        </p:nvSpPr>
        <p:spPr>
          <a:xfrm xmlns:a="http://schemas.openxmlformats.org/drawingml/2006/main">
            <a:off x="6762750" y="2286000"/>
            <a:ext cx="4857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53B33"/>
                </a:solidFill>
                <a:latin typeface="Aptos"/>
                <a:ea typeface="Aptos"/>
                <a:cs typeface="Aptos"/>
              </a:defRPr>
            </a:pPr>
            <a:r>
              <a:rPr sz="1950" b="0">
                <a:solidFill>
                  <a:srgbClr val="253B33"/>
                </a:solidFill>
                <a:latin typeface="Aptos"/>
                <a:ea typeface="Aptos"/>
                <a:cs typeface="Aptos"/>
              </a:rPr>
              <a:t>Confirm salon hours and time zone.</a:t>
            </a:r>
          </a:p>
          <a:p xmlns:a="http://schemas.openxmlformats.org/drawingml/2006/main">
            <a:pPr>
              <a:defRPr sz="1950" b="0">
                <a:solidFill>
                  <a:srgbClr val="253B33"/>
                </a:solidFill>
                <a:latin typeface="Aptos"/>
                <a:ea typeface="Aptos"/>
                <a:cs typeface="Aptos"/>
              </a:defRPr>
            </a:pPr>
            <a:r>
              <a:rPr sz="1950" b="0">
                <a:solidFill>
                  <a:srgbClr val="253B33"/>
                </a:solidFill>
                <a:latin typeface="Aptos"/>
                <a:ea typeface="Aptos"/>
                <a:cs typeface="Aptos"/>
              </a:rPr>
              <a:t>Connect messaging and Square safely.</a:t>
            </a:r>
          </a:p>
          <a:p xmlns:a="http://schemas.openxmlformats.org/drawingml/2006/main">
            <a:pPr>
              <a:defRPr sz="1950" b="0">
                <a:solidFill>
                  <a:srgbClr val="253B33"/>
                </a:solidFill>
                <a:latin typeface="Aptos"/>
                <a:ea typeface="Aptos"/>
                <a:cs typeface="Aptos"/>
              </a:defRPr>
            </a:pPr>
            <a:r>
              <a:rPr sz="1950" b="0">
                <a:solidFill>
                  <a:srgbClr val="253B33"/>
                </a:solidFill>
                <a:latin typeface="Aptos"/>
                <a:ea typeface="Aptos"/>
                <a:cs typeface="Aptos"/>
              </a:rPr>
              <a:t>Add production identity and monitoring.</a:t>
            </a:r>
          </a:p>
          <a:p xmlns:a="http://schemas.openxmlformats.org/drawingml/2006/main">
            <a:pPr>
              <a:defRPr sz="1950" b="0">
                <a:solidFill>
                  <a:srgbClr val="253B33"/>
                </a:solidFill>
                <a:latin typeface="Aptos"/>
                <a:ea typeface="Aptos"/>
                <a:cs typeface="Aptos"/>
              </a:defRPr>
            </a:pPr>
            <a:r>
              <a:rPr sz="1950" b="0">
                <a:solidFill>
                  <a:srgbClr val="253B33"/>
                </a:solidFill>
                <a:latin typeface="Aptos"/>
                <a:ea typeface="Aptos"/>
                <a:cs typeface="Aptos"/>
              </a:rPr>
              <a:t>Test recovery across infrastructure outages.</a:t>
            </a:r>
          </a:p>
        </p:txBody>
      </p:sp>
      <p:sp>
        <p:nvSpPr>
          <p:cNvPr id="9" name="">
            <a:extLst xmlns:a="http://schemas.openxmlformats.org/drawingml/2006/main">
              <a:ext uri="{FF2B5EF4-FFF2-40B4-BE49-F238E27FC236}">
                <a16:creationId xmlns:a16="http://schemas.microsoft.com/office/drawing/2014/main" id="{73A675A7-7139-4EC2-8CBB-D4CC676187F7}"/>
              </a:ext>
            </a:extLst>
          </p:cNvPr>
          <p:cNvSpPr>
            <a:spLocks xmlns:a="http://schemas.openxmlformats.org/drawingml/2006/main" noGrp="1"/>
          </p:cNvSpPr>
          <p:nvPr/>
        </p:nvSpPr>
        <p:spPr>
          <a:xfrm xmlns:a="http://schemas.openxmlformats.org/drawingml/2006/main">
            <a:off x="6762750" y="466725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05F49"/>
                </a:solidFill>
                <a:latin typeface="Aptos"/>
                <a:ea typeface="Aptos"/>
                <a:cs typeface="Aptos"/>
              </a:defRPr>
            </a:pPr>
            <a:r>
              <a:rPr sz="2250" b="1">
                <a:solidFill>
                  <a:srgbClr val="305F49"/>
                </a:solidFill>
                <a:latin typeface="Aptos"/>
                <a:ea typeface="Aptos"/>
                <a:cs typeface="Aptos"/>
              </a:rPr>
              <a:t>Measure the business result</a:t>
            </a:r>
          </a:p>
        </p:txBody>
      </p:sp>
      <p:sp>
        <p:nvSpPr>
          <p:cNvPr id="10" name="">
            <a:extLst xmlns:a="http://schemas.openxmlformats.org/drawingml/2006/main">
              <a:ext uri="{FF2B5EF4-FFF2-40B4-BE49-F238E27FC236}">
                <a16:creationId xmlns:a16="http://schemas.microsoft.com/office/drawing/2014/main" id="{1DD2C9F8-FE4E-46B6-8270-AA53F4135226}"/>
              </a:ext>
            </a:extLst>
          </p:cNvPr>
          <p:cNvSpPr>
            <a:spLocks xmlns:a="http://schemas.openxmlformats.org/drawingml/2006/main" noGrp="1"/>
          </p:cNvSpPr>
          <p:nvPr/>
        </p:nvSpPr>
        <p:spPr>
          <a:xfrm xmlns:a="http://schemas.openxmlformats.org/drawingml/2006/main">
            <a:off x="6762750" y="5219700"/>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Refilled cancellations / eligible cancellations,</a:t>
            </a:r>
          </a:p>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plus staff time and booking conflicts.</a:t>
            </a:r>
          </a:p>
          <a:p xmlns:a="http://schemas.openxmlformats.org/drawingml/2006/main">
            <a:pPr>
              <a:defRPr sz="1875" b="0">
                <a:solidFill>
                  <a:srgbClr val="253B33"/>
                </a:solidFill>
                <a:latin typeface="Aptos"/>
                <a:ea typeface="Aptos"/>
                <a:cs typeface="Aptos"/>
              </a:defRPr>
            </a:pPr>
            <a:r>
              <a:rPr sz="1875" b="0">
                <a:solidFill>
                  <a:srgbClr val="253B33"/>
                </a:solidFill>
                <a:latin typeface="Aptos"/>
                <a:ea typeface="Aptos"/>
                <a:cs typeface="Aptos"/>
              </a:rPr>
              <a:t>The 50% target is still to be validated.</a:t>
            </a:r>
          </a:p>
        </p:txBody>
      </p:sp>
    </p:spTree>
    <p:extLst>
      <p:ext uri="{BB962C8B-B14F-4D97-AF65-F5344CB8AC3E}">
        <p14:creationId xmlns:p14="http://schemas.microsoft.com/office/powerpoint/2010/main" val="4777788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2026-10-06T07:23:59.5500000Z</dcterms:created>
  <dcterms:modified xsi:type="dcterms:W3CDTF">2026-10-06T07:23:59.5500000Z</dcterms:modified>
</coreProperties>
</file>